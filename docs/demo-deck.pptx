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4572000" cy="6858000"/>
          </a:xfrm>
          <a:prstGeom prst="rect">
            <a:avLst/>
          </a:prstGeom>
          <a:solidFill>
            <a:srgbClr val="0909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640080"/>
            <a:ext cx="365760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100" b="1">
                <a:solidFill>
                  <a:srgbClr val="A1A1AA"/>
                </a:solidFill>
                <a:latin typeface="Inter"/>
              </a:rPr>
              <a:t>NETCHEX  /  VISITOR SIGNALS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2286000"/>
            <a:ext cx="3840480" cy="23774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4400" b="1">
                <a:solidFill>
                  <a:srgbClr val="FFFFFF"/>
                </a:solidFill>
                <a:latin typeface="Inter"/>
              </a:rPr>
              <a:t>Turn anonymous traffic</a:t>
            </a:r>
          </a:p>
          <a:p>
            <a:pPr algn="l"/>
            <a:r>
              <a:rPr sz="4400" b="1">
                <a:solidFill>
                  <a:srgbClr val="FFFFFF"/>
                </a:solidFill>
                <a:latin typeface="Inter"/>
              </a:rPr>
              <a:t>into vetted outreach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4572000"/>
            <a:ext cx="3840480" cy="12801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600" b="0">
                <a:solidFill>
                  <a:srgbClr val="E4E4E7"/>
                </a:solidFill>
                <a:latin typeface="Inter"/>
              </a:rPr>
              <a:t>A single pipeline from RB2B pixel hit to a personalized email sitting in front of an SDR — in under 15 seconds and under 15 cents.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120640" y="822960"/>
            <a:ext cx="658368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100" b="1">
                <a:solidFill>
                  <a:srgbClr val="52525B"/>
                </a:solidFill>
                <a:latin typeface="Inter"/>
              </a:rPr>
              <a:t>Demo walkthrough</a:t>
            </a:r>
          </a:p>
        </p:txBody>
      </p:sp>
      <p:sp>
        <p:nvSpPr>
          <p:cNvPr id="8" name="Rectangle 7"/>
          <p:cNvSpPr/>
          <p:nvPr/>
        </p:nvSpPr>
        <p:spPr>
          <a:xfrm>
            <a:off x="5120640" y="1234440"/>
            <a:ext cx="731520" cy="54864"/>
          </a:xfrm>
          <a:prstGeom prst="rect">
            <a:avLst/>
          </a:prstGeom>
          <a:solidFill>
            <a:srgbClr val="0909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5120640" y="2011680"/>
            <a:ext cx="6583680" cy="31089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2000" b="0">
                <a:solidFill>
                  <a:srgbClr val="27272A"/>
                </a:solidFill>
                <a:latin typeface="Inter"/>
              </a:rPr>
              <a:t>Anonymous website traffic → identified visitor</a:t>
            </a:r>
          </a:p>
          <a:p>
            <a:pPr algn="l"/>
            <a:r>
              <a:rPr sz="2000" b="0">
                <a:solidFill>
                  <a:srgbClr val="27272A"/>
                </a:solidFill>
                <a:latin typeface="Inter"/>
              </a:rPr>
              <a:t>→ ICP-scored lead → personalized outbound email</a:t>
            </a:r>
          </a:p>
          <a:p>
            <a:pPr algn="l"/>
            <a:r>
              <a:rPr sz="2000" b="0">
                <a:solidFill>
                  <a:srgbClr val="27272A"/>
                </a:solidFill>
                <a:latin typeface="Inter"/>
              </a:rPr>
              <a:t>→ simulated Gong Engage send.</a:t>
            </a:r>
          </a:p>
          <a:p>
            <a:pPr algn="l"/>
            <a:r>
              <a:rPr sz="2000" b="0">
                <a:solidFill>
                  <a:srgbClr val="27272A"/>
                </a:solidFill>
                <a:latin typeface="Inter"/>
              </a:rPr>
              <a:t/>
            </a:r>
          </a:p>
          <a:p>
            <a:pPr algn="l"/>
            <a:r>
              <a:rPr sz="2000" b="0">
                <a:solidFill>
                  <a:srgbClr val="27272A"/>
                </a:solidFill>
                <a:latin typeface="Inter"/>
              </a:rPr>
              <a:t>One pipeline. Five integrations. Zero black boxes.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120640" y="6217920"/>
            <a:ext cx="658368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000" b="0">
                <a:solidFill>
                  <a:srgbClr val="A1A1AA"/>
                </a:solidFill>
                <a:latin typeface="Inter"/>
              </a:rPr>
              <a:t>Presented by the Sales Ops team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411480"/>
            <a:ext cx="5486400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000" b="1">
                <a:solidFill>
                  <a:srgbClr val="A1A1AA"/>
                </a:solidFill>
                <a:latin typeface="Inter"/>
              </a:rPr>
              <a:t>THE GAP</a:t>
            </a:r>
          </a:p>
        </p:txBody>
      </p:sp>
      <p:sp>
        <p:nvSpPr>
          <p:cNvPr id="4" name="Rectangle 3"/>
          <p:cNvSpPr/>
          <p:nvPr/>
        </p:nvSpPr>
        <p:spPr>
          <a:xfrm>
            <a:off x="548640" y="685800"/>
            <a:ext cx="548640" cy="73152"/>
          </a:xfrm>
          <a:prstGeom prst="rect">
            <a:avLst/>
          </a:prstGeom>
          <a:solidFill>
            <a:srgbClr val="0909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48640" y="960120"/>
            <a:ext cx="10972800" cy="8229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3200" b="1">
                <a:solidFill>
                  <a:srgbClr val="09090B"/>
                </a:solidFill>
                <a:latin typeface="Inter"/>
              </a:rPr>
              <a:t>97% of visitors never fill out a form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2011680"/>
            <a:ext cx="10058400" cy="4572000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>
              <a:spcAft>
                <a:spcPts val="1000"/>
              </a:spcAft>
            </a:pPr>
            <a:r>
              <a:rPr b="1" sz="1700">
                <a:solidFill>
                  <a:srgbClr val="09090B"/>
                </a:solidFill>
                <a:latin typeface="Inter"/>
              </a:rPr>
              <a:t>Identified ≠ qualified.</a:t>
            </a:r>
          </a:p>
          <a:p>
            <a:pPr>
              <a:spcAft>
                <a:spcPts val="1000"/>
              </a:spcAft>
            </a:pPr>
            <a:r>
              <a:rPr sz="1500">
                <a:solidFill>
                  <a:srgbClr val="27272A"/>
                </a:solidFill>
                <a:latin typeface="Inter"/>
              </a:rPr>
              <a:t>•  RB2B surfaces ~40% of visitors by name, email, company, LinkedIn.</a:t>
            </a:r>
          </a:p>
          <a:p>
            <a:pPr>
              <a:spcAft>
                <a:spcPts val="1000"/>
              </a:spcAft>
            </a:pPr>
            <a:r>
              <a:rPr sz="1500">
                <a:solidFill>
                  <a:srgbClr val="27272A"/>
                </a:solidFill>
                <a:latin typeface="Inter"/>
              </a:rPr>
              <a:t>•  Most of those aren't buyers — wrong title, wrong industry, wrong size.</a:t>
            </a:r>
          </a:p>
          <a:p>
            <a:pPr>
              <a:spcAft>
                <a:spcPts val="1000"/>
              </a:spcAft>
            </a:pPr>
            <a:r>
              <a:rPr sz="1500">
                <a:solidFill>
                  <a:srgbClr val="27272A"/>
                </a:solidFill>
                <a:latin typeface="Inter"/>
              </a:rPr>
              <a:t>•  An SDR reading the feed manually burns an hour a day and still misses the real leads.</a:t>
            </a:r>
          </a:p>
          <a:p>
            <a:pPr>
              <a:spcAft>
                <a:spcPts val="1000"/>
              </a:spcAft>
            </a:pPr>
            <a:r>
              <a:rPr b="1" sz="1700">
                <a:solidFill>
                  <a:srgbClr val="09090B"/>
                </a:solidFill>
                <a:latin typeface="Inter"/>
              </a:rPr>
              <a:t>The bottleneck is triage and personalization — not identification.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6492240"/>
            <a:ext cx="109728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900" b="0">
                <a:solidFill>
                  <a:srgbClr val="A1A1AA"/>
                </a:solidFill>
                <a:latin typeface="Inter"/>
              </a:rPr>
              <a:t>Netchex Visitor Signals  —  demo deck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411480"/>
            <a:ext cx="5486400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000" b="1">
                <a:solidFill>
                  <a:srgbClr val="A1A1AA"/>
                </a:solidFill>
                <a:latin typeface="Inter"/>
              </a:rPr>
              <a:t>ARCHITECTURE</a:t>
            </a:r>
          </a:p>
        </p:txBody>
      </p:sp>
      <p:sp>
        <p:nvSpPr>
          <p:cNvPr id="4" name="Rectangle 3"/>
          <p:cNvSpPr/>
          <p:nvPr/>
        </p:nvSpPr>
        <p:spPr>
          <a:xfrm>
            <a:off x="548640" y="685800"/>
            <a:ext cx="548640" cy="73152"/>
          </a:xfrm>
          <a:prstGeom prst="rect">
            <a:avLst/>
          </a:prstGeom>
          <a:solidFill>
            <a:srgbClr val="0909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48640" y="960120"/>
            <a:ext cx="10972800" cy="8229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3200" b="1">
                <a:solidFill>
                  <a:srgbClr val="09090B"/>
                </a:solidFill>
                <a:latin typeface="Inter"/>
              </a:rPr>
              <a:t>Five steps, fully configurable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2011680"/>
            <a:ext cx="4572000" cy="4572000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>
              <a:spcAft>
                <a:spcPts val="1000"/>
              </a:spcAft>
            </a:pPr>
            <a:r>
              <a:rPr b="1" sz="1700">
                <a:solidFill>
                  <a:srgbClr val="09090B"/>
                </a:solidFill>
                <a:latin typeface="Inter"/>
              </a:rPr>
              <a:t>RB2B  →  Clay  →  ICP score  →  SF/Gong dedup  →  LLM draft  →  SDR</a:t>
            </a:r>
          </a:p>
          <a:p>
            <a:pPr>
              <a:spcAft>
                <a:spcPts val="1000"/>
              </a:spcAft>
            </a:pPr>
            <a:r>
              <a:rPr sz="1500">
                <a:solidFill>
                  <a:srgbClr val="27272A"/>
                </a:solidFill>
                <a:latin typeface="Inter"/>
              </a:rPr>
              <a:t>•  RB2B webhook (or CSV bulk) drops identified visitors into Postgres.</a:t>
            </a:r>
          </a:p>
          <a:p>
            <a:pPr>
              <a:spcAft>
                <a:spcPts val="1000"/>
              </a:spcAft>
            </a:pPr>
            <a:r>
              <a:rPr sz="1500">
                <a:solidFill>
                  <a:srgbClr val="27272A"/>
                </a:solidFill>
                <a:latin typeface="Inter"/>
              </a:rPr>
              <a:t>•  Clay enriches on LinkedIn URL → work email, title, company firmographics.</a:t>
            </a:r>
          </a:p>
          <a:p>
            <a:pPr>
              <a:spcAft>
                <a:spcPts val="1000"/>
              </a:spcAft>
            </a:pPr>
            <a:r>
              <a:rPr sz="1500">
                <a:solidFill>
                  <a:srgbClr val="27272A"/>
                </a:solidFill>
                <a:latin typeface="Inter"/>
              </a:rPr>
              <a:t>•  ICP engine scores 0–100 against editable rules; tiers leads 1/2/3.</a:t>
            </a:r>
          </a:p>
          <a:p>
            <a:pPr>
              <a:spcAft>
                <a:spcPts val="1000"/>
              </a:spcAft>
            </a:pPr>
            <a:r>
              <a:rPr sz="1500">
                <a:solidFill>
                  <a:srgbClr val="27272A"/>
                </a:solidFill>
                <a:latin typeface="Inter"/>
              </a:rPr>
              <a:t>•  Before drafting, we check Salesforce + Gong for existing deals or prior contact.</a:t>
            </a:r>
          </a:p>
          <a:p>
            <a:pPr>
              <a:spcAft>
                <a:spcPts val="1000"/>
              </a:spcAft>
            </a:pPr>
            <a:r>
              <a:rPr sz="1500">
                <a:solidFill>
                  <a:srgbClr val="27272A"/>
                </a:solidFill>
                <a:latin typeface="Inter"/>
              </a:rPr>
              <a:t>•  Gemini 2.5 Flash drafts a voice-matched email; SDR copies or simulates send.</a:t>
            </a:r>
          </a:p>
        </p:txBody>
      </p:sp>
      <p:sp>
        <p:nvSpPr>
          <p:cNvPr id="7" name="Rectangle 6"/>
          <p:cNvSpPr/>
          <p:nvPr/>
        </p:nvSpPr>
        <p:spPr>
          <a:xfrm>
            <a:off x="5486400" y="2011680"/>
            <a:ext cx="6217920" cy="4206240"/>
          </a:xfrm>
          <a:prstGeom prst="rect">
            <a:avLst/>
          </a:prstGeom>
          <a:solidFill>
            <a:srgbClr val="F4F4F5"/>
          </a:solidFill>
          <a:ln w="12700">
            <a:solidFill>
              <a:srgbClr val="E4E4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82880" rIns="182880" tIns="182880" bIns="182880" wrap="square"/>
          <a:lstStyle/>
          <a:p>
            <a:pPr algn="ctr"/>
            <a:r>
              <a:rPr sz="1400" i="1">
                <a:solidFill>
                  <a:srgbClr val="A1A1AA"/>
                </a:solidFill>
                <a:latin typeface="Inter"/>
              </a:rPr>
              <a:t>[ screenshot: 02-dashboard.png ]
Dashboard — stats + qualified visitor table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48640" y="6492240"/>
            <a:ext cx="109728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900" b="0">
                <a:solidFill>
                  <a:srgbClr val="A1A1AA"/>
                </a:solidFill>
                <a:latin typeface="Inter"/>
              </a:rPr>
              <a:t>Netchex Visitor Signals  —  demo deck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411480"/>
            <a:ext cx="5486400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000" b="1">
                <a:solidFill>
                  <a:srgbClr val="A1A1AA"/>
                </a:solidFill>
                <a:latin typeface="Inter"/>
              </a:rPr>
              <a:t>SCORING THE FUNNEL</a:t>
            </a:r>
          </a:p>
        </p:txBody>
      </p:sp>
      <p:sp>
        <p:nvSpPr>
          <p:cNvPr id="4" name="Rectangle 3"/>
          <p:cNvSpPr/>
          <p:nvPr/>
        </p:nvSpPr>
        <p:spPr>
          <a:xfrm>
            <a:off x="548640" y="685800"/>
            <a:ext cx="548640" cy="73152"/>
          </a:xfrm>
          <a:prstGeom prst="rect">
            <a:avLst/>
          </a:prstGeom>
          <a:solidFill>
            <a:srgbClr val="0909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48640" y="960120"/>
            <a:ext cx="10972800" cy="8229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3200" b="1">
                <a:solidFill>
                  <a:srgbClr val="09090B"/>
                </a:solidFill>
                <a:latin typeface="Inter"/>
              </a:rPr>
              <a:t>The ICP lives in the app, not in code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2011680"/>
            <a:ext cx="4572000" cy="4572000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>
              <a:spcAft>
                <a:spcPts val="1000"/>
              </a:spcAft>
            </a:pPr>
            <a:r>
              <a:rPr b="1" sz="1700">
                <a:solidFill>
                  <a:srgbClr val="09090B"/>
                </a:solidFill>
                <a:latin typeface="Inter"/>
              </a:rPr>
              <a:t>Four signals, 100 points total.</a:t>
            </a:r>
          </a:p>
          <a:p>
            <a:pPr>
              <a:spcAft>
                <a:spcPts val="1000"/>
              </a:spcAft>
            </a:pPr>
            <a:r>
              <a:rPr sz="1500">
                <a:solidFill>
                  <a:srgbClr val="27272A"/>
                </a:solidFill>
                <a:latin typeface="Inter"/>
              </a:rPr>
              <a:t>•  Firmographics (40) — industry, size 50–500, US-based.</a:t>
            </a:r>
          </a:p>
          <a:p>
            <a:pPr>
              <a:spcAft>
                <a:spcPts val="1000"/>
              </a:spcAft>
            </a:pPr>
            <a:r>
              <a:rPr sz="1500">
                <a:solidFill>
                  <a:srgbClr val="27272A"/>
                </a:solidFill>
                <a:latin typeface="Inter"/>
              </a:rPr>
              <a:t>•  Intent (30) — which product pages; /pricing and /demo weigh extra.</a:t>
            </a:r>
          </a:p>
          <a:p>
            <a:pPr>
              <a:spcAft>
                <a:spcPts val="1000"/>
              </a:spcAft>
            </a:pPr>
            <a:r>
              <a:rPr sz="1500">
                <a:solidFill>
                  <a:srgbClr val="27272A"/>
                </a:solidFill>
                <a:latin typeface="Inter"/>
              </a:rPr>
              <a:t>•  Persona fit (20) — HR / payroll / ops / owner titles.</a:t>
            </a:r>
          </a:p>
          <a:p>
            <a:pPr>
              <a:spcAft>
                <a:spcPts val="1000"/>
              </a:spcAft>
            </a:pPr>
            <a:r>
              <a:rPr sz="1500">
                <a:solidFill>
                  <a:srgbClr val="27272A"/>
                </a:solidFill>
                <a:latin typeface="Inter"/>
              </a:rPr>
              <a:t>•  Capacity (10) — revenue band, repeat visits.</a:t>
            </a:r>
          </a:p>
          <a:p>
            <a:pPr>
              <a:spcAft>
                <a:spcPts val="1000"/>
              </a:spcAft>
            </a:pPr>
            <a:r>
              <a:rPr b="1" sz="1700">
                <a:solidFill>
                  <a:srgbClr val="09090B"/>
                </a:solidFill>
                <a:latin typeface="Inter"/>
              </a:rPr>
              <a:t>Sales Ops edits the rules in Settings.** One-click re-score on the top 50.</a:t>
            </a:r>
          </a:p>
        </p:txBody>
      </p:sp>
      <p:sp>
        <p:nvSpPr>
          <p:cNvPr id="7" name="Rectangle 6"/>
          <p:cNvSpPr/>
          <p:nvPr/>
        </p:nvSpPr>
        <p:spPr>
          <a:xfrm>
            <a:off x="5486400" y="2011680"/>
            <a:ext cx="6217920" cy="4206240"/>
          </a:xfrm>
          <a:prstGeom prst="rect">
            <a:avLst/>
          </a:prstGeom>
          <a:solidFill>
            <a:srgbClr val="F4F4F5"/>
          </a:solidFill>
          <a:ln w="12700">
            <a:solidFill>
              <a:srgbClr val="E4E4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82880" rIns="182880" tIns="182880" bIns="182880" wrap="square"/>
          <a:lstStyle/>
          <a:p>
            <a:pPr algn="ctr"/>
            <a:r>
              <a:rPr sz="1400" i="1">
                <a:solidFill>
                  <a:srgbClr val="A1A1AA"/>
                </a:solidFill>
                <a:latin typeface="Inter"/>
              </a:rPr>
              <a:t>[ screenshot: 03-score.png ]
Visitor detail — Score Reasoning popover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48640" y="6492240"/>
            <a:ext cx="109728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900" b="0">
                <a:solidFill>
                  <a:srgbClr val="A1A1AA"/>
                </a:solidFill>
                <a:latin typeface="Inter"/>
              </a:rPr>
              <a:t>Netchex Visitor Signals  —  demo deck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411480"/>
            <a:ext cx="5486400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000" b="1">
                <a:solidFill>
                  <a:srgbClr val="A1A1AA"/>
                </a:solidFill>
                <a:latin typeface="Inter"/>
              </a:rPr>
              <a:t>DON'T STEP ON A LIVE DEAL</a:t>
            </a:r>
          </a:p>
        </p:txBody>
      </p:sp>
      <p:sp>
        <p:nvSpPr>
          <p:cNvPr id="4" name="Rectangle 3"/>
          <p:cNvSpPr/>
          <p:nvPr/>
        </p:nvSpPr>
        <p:spPr>
          <a:xfrm>
            <a:off x="548640" y="685800"/>
            <a:ext cx="548640" cy="73152"/>
          </a:xfrm>
          <a:prstGeom prst="rect">
            <a:avLst/>
          </a:prstGeom>
          <a:solidFill>
            <a:srgbClr val="0909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48640" y="960120"/>
            <a:ext cx="10972800" cy="8229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3200" b="1">
                <a:solidFill>
                  <a:srgbClr val="09090B"/>
                </a:solidFill>
                <a:latin typeface="Inter"/>
              </a:rPr>
              <a:t>Every email is checked against Salesforce + Gong first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2011680"/>
            <a:ext cx="4572000" cy="4572000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>
              <a:spcAft>
                <a:spcPts val="1000"/>
              </a:spcAft>
            </a:pPr>
            <a:r>
              <a:rPr b="1" sz="1700">
                <a:solidFill>
                  <a:srgbClr val="09090B"/>
                </a:solidFill>
                <a:latin typeface="Inter"/>
              </a:rPr>
              <a:t>One click: Check Salesforce &amp; Gong.</a:t>
            </a:r>
          </a:p>
          <a:p>
            <a:pPr>
              <a:spcAft>
                <a:spcPts val="1000"/>
              </a:spcAft>
            </a:pPr>
            <a:r>
              <a:rPr sz="1500">
                <a:solidFill>
                  <a:srgbClr val="27272A"/>
                </a:solidFill>
                <a:latin typeface="Inter"/>
              </a:rPr>
              <a:t>•  SOQL lookup by email — Lead or Contact, with owner + last activity.</a:t>
            </a:r>
          </a:p>
          <a:p>
            <a:pPr>
              <a:spcAft>
                <a:spcPts val="1000"/>
              </a:spcAft>
            </a:pPr>
            <a:r>
              <a:rPr sz="1500">
                <a:solidFill>
                  <a:srgbClr val="27272A"/>
                </a:solidFill>
                <a:latin typeface="Inter"/>
              </a:rPr>
              <a:t>•  Gong API — prior call count, prior email count, last touchpoint.</a:t>
            </a:r>
          </a:p>
          <a:p>
            <a:pPr>
              <a:spcAft>
                <a:spcPts val="1000"/>
              </a:spcAft>
            </a:pPr>
            <a:r>
              <a:rPr sz="1500">
                <a:solidFill>
                  <a:srgbClr val="27272A"/>
                </a:solidFill>
                <a:latin typeface="Inter"/>
              </a:rPr>
              <a:t>•  Results cache on the visitor row; repeat dashboard loads are free.</a:t>
            </a:r>
          </a:p>
          <a:p>
            <a:pPr>
              <a:spcAft>
                <a:spcPts val="1000"/>
              </a:spcAft>
            </a:pPr>
            <a:r>
              <a:rPr sz="1500">
                <a:solidFill>
                  <a:srgbClr val="27272A"/>
                </a:solidFill>
                <a:latin typeface="Inter"/>
              </a:rPr>
              <a:t>•  If this person is already in-play, the SDR gets a warning — not a draft.</a:t>
            </a:r>
          </a:p>
        </p:txBody>
      </p:sp>
      <p:sp>
        <p:nvSpPr>
          <p:cNvPr id="7" name="Rectangle 6"/>
          <p:cNvSpPr/>
          <p:nvPr/>
        </p:nvSpPr>
        <p:spPr>
          <a:xfrm>
            <a:off x="5486400" y="2011680"/>
            <a:ext cx="6217920" cy="4206240"/>
          </a:xfrm>
          <a:prstGeom prst="rect">
            <a:avLst/>
          </a:prstGeom>
          <a:solidFill>
            <a:srgbClr val="F4F4F5"/>
          </a:solidFill>
          <a:ln w="12700">
            <a:solidFill>
              <a:srgbClr val="E4E4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82880" rIns="182880" tIns="182880" bIns="182880" wrap="square"/>
          <a:lstStyle/>
          <a:p>
            <a:pPr algn="ctr"/>
            <a:r>
              <a:rPr sz="1400" i="1">
                <a:solidFill>
                  <a:srgbClr val="A1A1AA"/>
                </a:solidFill>
                <a:latin typeface="Inter"/>
              </a:rPr>
              <a:t>[ screenshot: 04-crm.png ]
Visitor detail — CRM &amp; Prior Touchpoints card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48640" y="6492240"/>
            <a:ext cx="109728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900" b="0">
                <a:solidFill>
                  <a:srgbClr val="A1A1AA"/>
                </a:solidFill>
                <a:latin typeface="Inter"/>
              </a:rPr>
              <a:t>Netchex Visitor Signals  —  demo deck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411480"/>
            <a:ext cx="5486400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000" b="1">
                <a:solidFill>
                  <a:srgbClr val="A1A1AA"/>
                </a:solidFill>
                <a:latin typeface="Inter"/>
              </a:rPr>
              <a:t>THE TONE IS THE PRODUCT</a:t>
            </a:r>
          </a:p>
        </p:txBody>
      </p:sp>
      <p:sp>
        <p:nvSpPr>
          <p:cNvPr id="4" name="Rectangle 3"/>
          <p:cNvSpPr/>
          <p:nvPr/>
        </p:nvSpPr>
        <p:spPr>
          <a:xfrm>
            <a:off x="548640" y="685800"/>
            <a:ext cx="548640" cy="73152"/>
          </a:xfrm>
          <a:prstGeom prst="rect">
            <a:avLst/>
          </a:prstGeom>
          <a:solidFill>
            <a:srgbClr val="0909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48640" y="960120"/>
            <a:ext cx="10972800" cy="8229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3200" b="1">
                <a:solidFill>
                  <a:srgbClr val="09090B"/>
                </a:solidFill>
                <a:latin typeface="Inter"/>
              </a:rPr>
              <a:t>Voice-matched email, regenerable on demand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2011680"/>
            <a:ext cx="4572000" cy="4572000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>
              <a:spcAft>
                <a:spcPts val="1000"/>
              </a:spcAft>
            </a:pPr>
            <a:r>
              <a:rPr b="1" sz="1700">
                <a:solidFill>
                  <a:srgbClr val="09090B"/>
                </a:solidFill>
                <a:latin typeface="Inter"/>
              </a:rPr>
              <a:t>Gemini 2.5 Flash, ~3s, ~$0.0005 per draft.</a:t>
            </a:r>
          </a:p>
          <a:p>
            <a:pPr>
              <a:spcAft>
                <a:spcPts val="1000"/>
              </a:spcAft>
            </a:pPr>
            <a:r>
              <a:rPr sz="1500">
                <a:solidFill>
                  <a:srgbClr val="27272A"/>
                </a:solidFill>
                <a:latin typeface="Inter"/>
              </a:rPr>
              <a:t>•  Prompt reverse-engineered from 10 real SDR emails (Teresa, Scott).</a:t>
            </a:r>
          </a:p>
          <a:p>
            <a:pPr>
              <a:spcAft>
                <a:spcPts val="1000"/>
              </a:spcAft>
            </a:pPr>
            <a:r>
              <a:rPr sz="1500">
                <a:solidFill>
                  <a:srgbClr val="27272A"/>
                </a:solidFill>
                <a:latin typeface="Inter"/>
              </a:rPr>
              <a:t>•  Greeting: "Hey [first name]," — never "Dear".</a:t>
            </a:r>
          </a:p>
          <a:p>
            <a:pPr>
              <a:spcAft>
                <a:spcPts val="1000"/>
              </a:spcAft>
            </a:pPr>
            <a:r>
              <a:rPr sz="1500">
                <a:solidFill>
                  <a:srgbClr val="27272A"/>
                </a:solidFill>
                <a:latin typeface="Inter"/>
              </a:rPr>
              <a:t>•  A real Netchex customer name (IVY, CFAN, Willbanks) when the industry matches.</a:t>
            </a:r>
          </a:p>
          <a:p>
            <a:pPr>
              <a:spcAft>
                <a:spcPts val="1000"/>
              </a:spcAft>
            </a:pPr>
            <a:r>
              <a:rPr sz="1500">
                <a:solidFill>
                  <a:srgbClr val="27272A"/>
                </a:solidFill>
                <a:latin typeface="Inter"/>
              </a:rPr>
              <a:t>•  CTA always ends with a duration: "Is a 10-minute overview worth scheduling?"</a:t>
            </a:r>
          </a:p>
          <a:p>
            <a:pPr>
              <a:spcAft>
                <a:spcPts val="1000"/>
              </a:spcAft>
            </a:pPr>
            <a:r>
              <a:rPr sz="1500">
                <a:solidFill>
                  <a:srgbClr val="27272A"/>
                </a:solidFill>
                <a:latin typeface="Inter"/>
              </a:rPr>
              <a:t>•  Marketing retunes the voice by editing the template — no deploy.</a:t>
            </a:r>
          </a:p>
        </p:txBody>
      </p:sp>
      <p:sp>
        <p:nvSpPr>
          <p:cNvPr id="7" name="Rectangle 6"/>
          <p:cNvSpPr/>
          <p:nvPr/>
        </p:nvSpPr>
        <p:spPr>
          <a:xfrm>
            <a:off x="5486400" y="2011680"/>
            <a:ext cx="6217920" cy="4206240"/>
          </a:xfrm>
          <a:prstGeom prst="rect">
            <a:avLst/>
          </a:prstGeom>
          <a:solidFill>
            <a:srgbClr val="F4F4F5"/>
          </a:solidFill>
          <a:ln w="12700">
            <a:solidFill>
              <a:srgbClr val="E4E4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82880" rIns="182880" tIns="182880" bIns="182880" wrap="square"/>
          <a:lstStyle/>
          <a:p>
            <a:pPr algn="ctr"/>
            <a:r>
              <a:rPr sz="1400" i="1">
                <a:solidFill>
                  <a:srgbClr val="A1A1AA"/>
                </a:solidFill>
                <a:latin typeface="Inter"/>
              </a:rPr>
              <a:t>[ screenshot: 05-outreach.png ]
Generated outreach email + Copy / Send controls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48640" y="6492240"/>
            <a:ext cx="109728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900" b="0">
                <a:solidFill>
                  <a:srgbClr val="A1A1AA"/>
                </a:solidFill>
                <a:latin typeface="Inter"/>
              </a:rPr>
              <a:t>Netchex Visitor Signals  —  demo deck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909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640080"/>
            <a:ext cx="1097280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100" b="1">
                <a:solidFill>
                  <a:srgbClr val="A1A1AA"/>
                </a:solidFill>
                <a:latin typeface="Inter"/>
              </a:rPr>
              <a:t>WHAT'S NEXT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371600"/>
            <a:ext cx="10972800" cy="10972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4000" b="1">
                <a:solidFill>
                  <a:srgbClr val="FFFFFF"/>
                </a:solidFill>
                <a:latin typeface="Inter"/>
              </a:rPr>
              <a:t>From demo to production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2743200"/>
            <a:ext cx="411480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600" b="1">
                <a:solidFill>
                  <a:srgbClr val="FFFFFF"/>
                </a:solidFill>
                <a:latin typeface="Inter"/>
              </a:rPr>
              <a:t>Real Gong Engage send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754880" y="2743200"/>
            <a:ext cx="694944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400" b="0">
                <a:solidFill>
                  <a:srgbClr val="A1A1AA"/>
                </a:solidFill>
                <a:latin typeface="Inter"/>
              </a:rPr>
              <a:t>Behind a feature flag. Awaiting Legal sign-off.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3337560"/>
            <a:ext cx="411480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600" b="1">
                <a:solidFill>
                  <a:srgbClr val="FFFFFF"/>
                </a:solidFill>
                <a:latin typeface="Inter"/>
              </a:rPr>
              <a:t>Auto-assign to AE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754880" y="3337560"/>
            <a:ext cx="694944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400" b="0">
                <a:solidFill>
                  <a:srgbClr val="A1A1AA"/>
                </a:solidFill>
                <a:latin typeface="Inter"/>
              </a:rPr>
              <a:t>Gong's CRM mapping already tells us the owner.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48640" y="3931920"/>
            <a:ext cx="411480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600" b="1">
                <a:solidFill>
                  <a:srgbClr val="FFFFFF"/>
                </a:solidFill>
                <a:latin typeface="Inter"/>
              </a:rPr>
              <a:t>Slack alert for Tier 1 leads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754880" y="3931920"/>
            <a:ext cx="694944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400" b="0">
                <a:solidFill>
                  <a:srgbClr val="A1A1AA"/>
                </a:solidFill>
                <a:latin typeface="Inter"/>
              </a:rPr>
              <a:t>Same hook, different endpoint.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48640" y="4526280"/>
            <a:ext cx="411480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600" b="1">
                <a:solidFill>
                  <a:srgbClr val="FFFFFF"/>
                </a:solidFill>
                <a:latin typeface="Inter"/>
              </a:rPr>
              <a:t>Daily SDR digest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754880" y="4526280"/>
            <a:ext cx="694944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400" b="0">
                <a:solidFill>
                  <a:srgbClr val="A1A1AA"/>
                </a:solidFill>
                <a:latin typeface="Inter"/>
              </a:rPr>
              <a:t>Top 10 qualified visitors from the last 24h.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48640" y="5120640"/>
            <a:ext cx="411480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600" b="1">
                <a:solidFill>
                  <a:srgbClr val="FFFFFF"/>
                </a:solidFill>
                <a:latin typeface="Inter"/>
              </a:rPr>
              <a:t>Monitoring dashboard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754880" y="5120640"/>
            <a:ext cx="694944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400" b="0">
                <a:solidFill>
                  <a:srgbClr val="A1A1AA"/>
                </a:solidFill>
                <a:latin typeface="Inter"/>
              </a:rPr>
              <a:t>Time-to-qualification, LLM spend, enrichment credits.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48640" y="6309360"/>
            <a:ext cx="109728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400" b="1">
                <a:solidFill>
                  <a:srgbClr val="FFFFFF"/>
                </a:solidFill>
                <a:latin typeface="Inter"/>
              </a:rPr>
              <a:t>Questions?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